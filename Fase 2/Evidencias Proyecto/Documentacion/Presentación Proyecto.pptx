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5bReJwdyivvpAEDEn1qGfOidM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511CC8-253E-46FD-B393-10605301F848}">
  <a:tblStyle styleId="{7C511CC8-253E-46FD-B393-10605301F8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d67b9e04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d67b9e048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428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422"/>
              <a:t>“</a:t>
            </a:r>
            <a:r>
              <a:rPr i="1" lang="es-CL" sz="2422"/>
              <a:t>LogisticFour</a:t>
            </a:r>
            <a:r>
              <a:rPr lang="es-CL" sz="3422"/>
              <a:t>”</a:t>
            </a:r>
            <a:endParaRPr sz="6222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3000"/>
            <a:ext cx="9144000" cy="18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Sede: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64501" y="931359"/>
            <a:ext cx="6781052" cy="5792930"/>
            <a:chOff x="4064501" y="784084"/>
            <a:chExt cx="6781052" cy="5792930"/>
          </a:xfrm>
        </p:grpSpPr>
        <p:grpSp>
          <p:nvGrpSpPr>
            <p:cNvPr id="92" name="Google Shape;92;p2"/>
            <p:cNvGrpSpPr/>
            <p:nvPr/>
          </p:nvGrpSpPr>
          <p:grpSpPr>
            <a:xfrm>
              <a:off x="4064501" y="784084"/>
              <a:ext cx="6781052" cy="4590224"/>
              <a:chOff x="0" y="0"/>
              <a:chExt cx="6781052" cy="4590224"/>
            </a:xfrm>
          </p:grpSpPr>
          <p:sp>
            <p:nvSpPr>
              <p:cNvPr id="93" name="Google Shape;93;p2"/>
              <p:cNvSpPr/>
              <p:nvPr/>
            </p:nvSpPr>
            <p:spPr>
              <a:xfrm>
                <a:off x="0" y="0"/>
                <a:ext cx="6781017" cy="1067494"/>
              </a:xfrm>
              <a:prstGeom prst="roundRect">
                <a:avLst>
                  <a:gd fmla="val 10000" name="adj"/>
                </a:avLst>
              </a:prstGeom>
              <a:gradFill>
                <a:gsLst>
                  <a:gs pos="0">
                    <a:srgbClr val="5E81C9"/>
                  </a:gs>
                  <a:gs pos="50000">
                    <a:srgbClr val="3B70C9"/>
                  </a:gs>
                  <a:gs pos="100000">
                    <a:srgbClr val="2E60B8"/>
                  </a:gs>
                </a:gsLst>
                <a:lin ang="5400000" scaled="0"/>
              </a:gra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 txBox="1"/>
              <p:nvPr/>
            </p:nvSpPr>
            <p:spPr>
              <a:xfrm>
                <a:off x="1462952" y="0"/>
                <a:ext cx="5318100" cy="106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000" lIns="80000" spcFirstLastPara="1" rIns="80000" wrap="square" tIns="80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Calibri"/>
                  <a:buNone/>
                </a:pPr>
                <a:r>
                  <a:rPr lang="es-CL" sz="2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Freddy Cardenas</a:t>
                </a:r>
                <a:endParaRPr b="0" i="0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1450" marR="0" rtl="0" algn="l">
                  <a:lnSpc>
                    <a:spcPct val="90000"/>
                  </a:lnSpc>
                  <a:spcBef>
                    <a:spcPts val="735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Char char="•"/>
                </a:pPr>
                <a:r>
                  <a:rPr lang="es-CL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Jefe de proyecto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06749" y="106749"/>
                <a:ext cx="1356203" cy="853995"/>
              </a:xfrm>
              <a:prstGeom prst="roundRect">
                <a:avLst>
                  <a:gd fmla="val 10000" name="adj"/>
                </a:avLst>
              </a:prstGeom>
              <a:solidFill>
                <a:srgbClr val="BFC8E3"/>
              </a:soli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0" y="1174243"/>
                <a:ext cx="6781017" cy="1067494"/>
              </a:xfrm>
              <a:prstGeom prst="roundRect">
                <a:avLst>
                  <a:gd fmla="val 10000" name="adj"/>
                </a:avLst>
              </a:prstGeom>
              <a:gradFill>
                <a:gsLst>
                  <a:gs pos="0">
                    <a:srgbClr val="5E81C9"/>
                  </a:gs>
                  <a:gs pos="50000">
                    <a:srgbClr val="3B70C9"/>
                  </a:gs>
                  <a:gs pos="100000">
                    <a:srgbClr val="2E60B8"/>
                  </a:gs>
                </a:gsLst>
                <a:lin ang="5400000" scaled="0"/>
              </a:gra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 txBox="1"/>
              <p:nvPr/>
            </p:nvSpPr>
            <p:spPr>
              <a:xfrm>
                <a:off x="1462952" y="1174243"/>
                <a:ext cx="5318064" cy="1067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000" lIns="80000" spcFirstLastPara="1" rIns="80000" wrap="square" tIns="80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Calibri"/>
                  <a:buNone/>
                </a:pPr>
                <a:r>
                  <a:rPr lang="es-CL" sz="2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Kevin Bustos</a:t>
                </a:r>
                <a:endParaRPr b="0" i="0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1450" marR="0" rtl="0" algn="l">
                  <a:lnSpc>
                    <a:spcPct val="90000"/>
                  </a:lnSpc>
                  <a:spcBef>
                    <a:spcPts val="735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Char char="•"/>
                </a:pPr>
                <a:r>
                  <a:rPr lang="es-CL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Analista programador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06749" y="1280992"/>
                <a:ext cx="1356203" cy="853995"/>
              </a:xfrm>
              <a:prstGeom prst="roundRect">
                <a:avLst>
                  <a:gd fmla="val 10000" name="adj"/>
                </a:avLst>
              </a:prstGeom>
              <a:solidFill>
                <a:srgbClr val="BFC8E3"/>
              </a:soli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0" y="2348487"/>
                <a:ext cx="6781017" cy="1067494"/>
              </a:xfrm>
              <a:prstGeom prst="roundRect">
                <a:avLst>
                  <a:gd fmla="val 10000" name="adj"/>
                </a:avLst>
              </a:prstGeom>
              <a:gradFill>
                <a:gsLst>
                  <a:gs pos="0">
                    <a:srgbClr val="5E81C9"/>
                  </a:gs>
                  <a:gs pos="50000">
                    <a:srgbClr val="3B70C9"/>
                  </a:gs>
                  <a:gs pos="100000">
                    <a:srgbClr val="2E60B8"/>
                  </a:gs>
                </a:gsLst>
                <a:lin ang="5400000" scaled="0"/>
              </a:gra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 txBox="1"/>
              <p:nvPr/>
            </p:nvSpPr>
            <p:spPr>
              <a:xfrm>
                <a:off x="1462952" y="2348487"/>
                <a:ext cx="5318064" cy="1067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000" lIns="80000" spcFirstLastPara="1" rIns="80000" wrap="square" tIns="80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Calibri"/>
                  <a:buNone/>
                </a:pPr>
                <a:r>
                  <a:rPr lang="es-CL" sz="2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Antonio Martinez</a:t>
                </a:r>
                <a:endParaRPr/>
              </a:p>
              <a:p>
                <a:pPr indent="-171450" lvl="1" marL="171450" marR="0" rtl="0" algn="l">
                  <a:lnSpc>
                    <a:spcPct val="90000"/>
                  </a:lnSpc>
                  <a:spcBef>
                    <a:spcPts val="735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Char char="•"/>
                </a:pPr>
                <a:r>
                  <a:rPr lang="es-CL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Administrador BD</a:t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106749" y="2455236"/>
                <a:ext cx="1356203" cy="853995"/>
              </a:xfrm>
              <a:prstGeom prst="roundRect">
                <a:avLst>
                  <a:gd fmla="val 10000" name="adj"/>
                </a:avLst>
              </a:prstGeom>
              <a:solidFill>
                <a:srgbClr val="BFC8E3"/>
              </a:soli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0" y="3522730"/>
                <a:ext cx="6781017" cy="1067494"/>
              </a:xfrm>
              <a:prstGeom prst="roundRect">
                <a:avLst>
                  <a:gd fmla="val 10000" name="adj"/>
                </a:avLst>
              </a:prstGeom>
              <a:gradFill>
                <a:gsLst>
                  <a:gs pos="0">
                    <a:srgbClr val="5E81C9"/>
                  </a:gs>
                  <a:gs pos="50000">
                    <a:srgbClr val="3B70C9"/>
                  </a:gs>
                  <a:gs pos="100000">
                    <a:srgbClr val="2E60B8"/>
                  </a:gs>
                </a:gsLst>
                <a:lin ang="5400000" scaled="0"/>
              </a:gra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 txBox="1"/>
              <p:nvPr/>
            </p:nvSpPr>
            <p:spPr>
              <a:xfrm>
                <a:off x="1462952" y="3522730"/>
                <a:ext cx="5318064" cy="1067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000" lIns="80000" spcFirstLastPara="1" rIns="80000" wrap="square" tIns="80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Calibri"/>
                  <a:buNone/>
                </a:pPr>
                <a:r>
                  <a:rPr lang="es-CL" sz="2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Luis Mardones</a:t>
                </a:r>
                <a:endParaRPr b="0" i="0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1450" marR="0" rtl="0" algn="l">
                  <a:lnSpc>
                    <a:spcPct val="90000"/>
                  </a:lnSpc>
                  <a:spcBef>
                    <a:spcPts val="735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Char char="•"/>
                </a:pPr>
                <a:r>
                  <a:rPr lang="es-CL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Calidad </a:t>
                </a:r>
                <a:r>
                  <a:rPr lang="es-CL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 testing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06749" y="3629480"/>
                <a:ext cx="1356203" cy="853995"/>
              </a:xfrm>
              <a:prstGeom prst="roundRect">
                <a:avLst>
                  <a:gd fmla="val 10000" name="adj"/>
                </a:avLst>
              </a:prstGeom>
              <a:solidFill>
                <a:srgbClr val="BFC8E3"/>
              </a:soli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2"/>
            <p:cNvGrpSpPr/>
            <p:nvPr/>
          </p:nvGrpSpPr>
          <p:grpSpPr>
            <a:xfrm>
              <a:off x="4064501" y="5496007"/>
              <a:ext cx="6781052" cy="1081007"/>
              <a:chOff x="332251" y="5131214"/>
              <a:chExt cx="6781052" cy="1081007"/>
            </a:xfrm>
          </p:grpSpPr>
          <p:sp>
            <p:nvSpPr>
              <p:cNvPr id="106" name="Google Shape;106;p2"/>
              <p:cNvSpPr/>
              <p:nvPr/>
            </p:nvSpPr>
            <p:spPr>
              <a:xfrm>
                <a:off x="332251" y="5131214"/>
                <a:ext cx="6780900" cy="1067400"/>
              </a:xfrm>
              <a:prstGeom prst="roundRect">
                <a:avLst>
                  <a:gd fmla="val 10000" name="adj"/>
                </a:avLst>
              </a:prstGeom>
              <a:gradFill>
                <a:gsLst>
                  <a:gs pos="0">
                    <a:srgbClr val="5E81C9"/>
                  </a:gs>
                  <a:gs pos="50000">
                    <a:srgbClr val="3B70C9"/>
                  </a:gs>
                  <a:gs pos="100000">
                    <a:srgbClr val="2E60B8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5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 txBox="1"/>
              <p:nvPr/>
            </p:nvSpPr>
            <p:spPr>
              <a:xfrm>
                <a:off x="1795203" y="5144821"/>
                <a:ext cx="5318100" cy="106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000" lIns="80000" spcFirstLastPara="1" rIns="80000" wrap="square" tIns="80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Calibri"/>
                  <a:buNone/>
                </a:pPr>
                <a:r>
                  <a:rPr lang="es-CL" sz="2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Mario Silva</a:t>
                </a:r>
                <a:endParaRPr b="0" i="0" sz="2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1450" marR="0" rtl="0" algn="l">
                  <a:lnSpc>
                    <a:spcPct val="90000"/>
                  </a:lnSpc>
                  <a:spcBef>
                    <a:spcPts val="735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Char char="•"/>
                </a:pPr>
                <a:r>
                  <a:t/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39000" y="5237964"/>
                <a:ext cx="1356300" cy="854100"/>
              </a:xfrm>
              <a:prstGeom prst="roundRect">
                <a:avLst>
                  <a:gd fmla="val 10000" name="adj"/>
                </a:avLst>
              </a:prstGeom>
              <a:solidFill>
                <a:srgbClr val="BFC8E3"/>
              </a:soli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5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Distribuidora Andes Ltda.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tiene control centralizado de inventario, lo que genera errores, pérdidas y falta de trazabilidad.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Gestor de Inventario centralizado en tiempo real, con reportes, alertas y trazabilidad para optimizar control y reducir pérdidas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Gestor de Inventario centralizado para reducir pérdidas, optimizar tiempos y asegurar información confiable.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Poder administrar los inventarios de bodegas, sucursales y obtener información acerca del estado de los productos.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914374" y="1664801"/>
            <a:ext cx="100728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 inventario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 entradas, salidas y transferencias.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reportes y alertas de stock.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roles y permisos de usuarios.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Mantiene trazabilidad de productos y proveedores.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1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No gestiona contabilidad ni facturación.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No reemplaza el ERP financiero.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No cubre logística de transporte.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No capacita al personal automáticamente.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de sistema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Bodeguero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838191" y="75129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23225" y="1446150"/>
            <a:ext cx="6069900" cy="509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Funcionalidades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Enviar alertas (</a:t>
            </a:r>
            <a:r>
              <a:rPr lang="es-CL" sz="1100">
                <a:solidFill>
                  <a:schemeClr val="dk1"/>
                </a:solidFill>
              </a:rPr>
              <a:t>notificación</a:t>
            </a:r>
            <a:r>
              <a:rPr lang="es-CL" sz="1100">
                <a:solidFill>
                  <a:schemeClr val="dk1"/>
                </a:solidFill>
              </a:rPr>
              <a:t> y/o correo)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Generar y entregar reportes (PDF, XLS)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Características del Sistema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Plataforma web y escritorio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Interfaz amigable: colores, tipografía y facilidad de uso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Seguro, confiable y capaz de respaldar datos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Disponible todos los días y adaptado a todos los dispositivos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Operaciones correctas, eficientes y con buena interoperabilidad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Rendimiento óptimo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3575" y="966099"/>
            <a:ext cx="4793800" cy="54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723" y="1589325"/>
            <a:ext cx="6741750" cy="49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0" y="1976775"/>
            <a:ext cx="5926624" cy="432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6500" y="1976775"/>
            <a:ext cx="5926625" cy="431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d67b9e048_2_0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4" name="Google Shape;164;g37d67b9e048_2_0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37d67b9e048_2_0" title="Añadir Produ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875" y="1589300"/>
            <a:ext cx="7046349" cy="51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1" name="Google Shape;171;p10"/>
          <p:cNvGraphicFramePr/>
          <p:nvPr/>
        </p:nvGraphicFramePr>
        <p:xfrm>
          <a:off x="1698184" y="2336338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AB4EC"/>
                    </a:gs>
                    <a:gs pos="50000">
                      <a:srgbClr val="8DA8E2"/>
                    </a:gs>
                    <a:gs pos="100000">
                      <a:srgbClr val="789BE3"/>
                    </a:gs>
                  </a:gsLst>
                  <a:lin ang="5400000" scaled="0"/>
                </a:gradFill>
                <a:tableStyleId>{7C511CC8-253E-46FD-B393-10605301F848}</a:tableStyleId>
              </a:tblPr>
              <a:tblGrid>
                <a:gridCol w="3222225"/>
                <a:gridCol w="4313250"/>
              </a:tblGrid>
              <a:tr h="37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Fase 1 - </a:t>
                      </a: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Definición</a:t>
                      </a: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 del Proyecto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10/09/2025</a:t>
                      </a:r>
                      <a:endParaRPr sz="2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91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Fase 2 Parte 1- </a:t>
                      </a: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Documentación</a:t>
                      </a: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 del Desarrollo del Proyecto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01/10/2025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Fase 2 Parte 2 - Desarrollo del Proyecto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19/11/2025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43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>
                          <a:solidFill>
                            <a:schemeClr val="lt1"/>
                          </a:solidFill>
                        </a:rPr>
                        <a:t>Fase 3 - Presentación del Proyecto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03/12/2025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Generales del Proyecto</a:t>
            </a:r>
            <a:endParaRPr/>
          </a:p>
        </p:txBody>
      </p:sp>
      <p:pic>
        <p:nvPicPr>
          <p:cNvPr id="177" name="Google Shape;1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25" y="3294725"/>
            <a:ext cx="6054300" cy="18478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8" name="Google Shape;17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375" y="3294725"/>
            <a:ext cx="5943575" cy="18478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9" name="Google Shape;17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763" y="5301738"/>
            <a:ext cx="64579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9275" y="1487713"/>
            <a:ext cx="91249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468450" y="1827775"/>
            <a:ext cx="10861200" cy="47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Lenguaje de programación</a:t>
            </a:r>
            <a:r>
              <a:rPr lang="es-CL">
                <a:solidFill>
                  <a:schemeClr val="dk1"/>
                </a:solidFill>
              </a:rPr>
              <a:t>: Python (para el backend con Django) y JavaScript (para la interacción del frontend).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Framework</a:t>
            </a:r>
            <a:r>
              <a:rPr lang="es-CL">
                <a:solidFill>
                  <a:schemeClr val="dk1"/>
                </a:solidFill>
              </a:rPr>
              <a:t>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Django</a:t>
            </a:r>
            <a:r>
              <a:rPr lang="es-CL">
                <a:solidFill>
                  <a:schemeClr val="dk1"/>
                </a:solidFill>
              </a:rPr>
              <a:t>: Framework de desarrollo web en Python, utilizado para la creación del backend, manejo de bases de datos, autenticación y gestión de rutas.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Supabase</a:t>
            </a:r>
            <a:r>
              <a:rPr lang="es-CL">
                <a:solidFill>
                  <a:schemeClr val="dk1"/>
                </a:solidFill>
              </a:rPr>
              <a:t>: Plataforma de backend como servicio, utilizada para la gestión de base de datos en tiempo real, autenticación de usuarios y almacenamiento de archivos.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Base de datos</a:t>
            </a:r>
            <a:r>
              <a:rPr lang="es-CL">
                <a:solidFill>
                  <a:schemeClr val="dk1"/>
                </a:solidFill>
              </a:rPr>
              <a:t>: PostgreSQL, gestionada por Supabase para almacenamiento estructurado y consultas en tiempo real.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Sistema operativo</a:t>
            </a:r>
            <a:r>
              <a:rPr lang="es-CL">
                <a:solidFill>
                  <a:schemeClr val="dk1"/>
                </a:solidFill>
              </a:rPr>
              <a:t>: Compatible con </a:t>
            </a:r>
            <a:r>
              <a:rPr b="1" lang="es-CL">
                <a:solidFill>
                  <a:schemeClr val="dk1"/>
                </a:solidFill>
              </a:rPr>
              <a:t>Windows 10 Pro 64 bits</a:t>
            </a:r>
            <a:r>
              <a:rPr lang="es-CL">
                <a:solidFill>
                  <a:schemeClr val="dk1"/>
                </a:solidFill>
              </a:rPr>
              <a:t> para el entorno de desarrollo y despliegue.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Entorno de desarrollo</a:t>
            </a:r>
            <a:r>
              <a:rPr lang="es-CL">
                <a:solidFill>
                  <a:schemeClr val="dk1"/>
                </a:solidFill>
              </a:rPr>
              <a:t>: </a:t>
            </a:r>
            <a:r>
              <a:rPr b="1" lang="es-CL">
                <a:solidFill>
                  <a:schemeClr val="dk1"/>
                </a:solidFill>
              </a:rPr>
              <a:t>VS Code</a:t>
            </a:r>
            <a:r>
              <a:rPr lang="es-CL">
                <a:solidFill>
                  <a:schemeClr val="dk1"/>
                </a:solidFill>
              </a:rPr>
              <a:t> o </a:t>
            </a:r>
            <a:r>
              <a:rPr b="1" lang="es-CL">
                <a:solidFill>
                  <a:schemeClr val="dk1"/>
                </a:solidFill>
              </a:rPr>
              <a:t>PyCharm</a:t>
            </a:r>
            <a:r>
              <a:rPr lang="es-CL">
                <a:solidFill>
                  <a:schemeClr val="dk1"/>
                </a:solidFill>
              </a:rPr>
              <a:t> como editores, con herramientas de virtualización como Docker si es necesario.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Versionamiento de código</a:t>
            </a:r>
            <a:r>
              <a:rPr lang="es-CL">
                <a:solidFill>
                  <a:schemeClr val="dk1"/>
                </a:solidFill>
              </a:rPr>
              <a:t>: </a:t>
            </a:r>
            <a:r>
              <a:rPr b="1" lang="es-CL">
                <a:solidFill>
                  <a:schemeClr val="dk1"/>
                </a:solidFill>
              </a:rPr>
              <a:t>Git</a:t>
            </a:r>
            <a:r>
              <a:rPr lang="es-CL">
                <a:solidFill>
                  <a:schemeClr val="dk1"/>
                </a:solidFill>
              </a:rPr>
              <a:t> para control de versiones y </a:t>
            </a:r>
            <a:r>
              <a:rPr b="1" lang="es-CL">
                <a:solidFill>
                  <a:schemeClr val="dk1"/>
                </a:solidFill>
              </a:rPr>
              <a:t>GitHub</a:t>
            </a:r>
            <a:r>
              <a:rPr lang="es-CL">
                <a:solidFill>
                  <a:schemeClr val="dk1"/>
                </a:solidFill>
              </a:rPr>
              <a:t> para la colaboración y despliegue.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>
                <a:solidFill>
                  <a:schemeClr val="dk1"/>
                </a:solidFill>
              </a:rPr>
              <a:t>Compatibilidad con formatos</a:t>
            </a:r>
            <a:r>
              <a:rPr lang="es-CL">
                <a:solidFill>
                  <a:schemeClr val="dk1"/>
                </a:solidFill>
              </a:rPr>
              <a:t>: El sistema soporta exportación e importación de archivos en </a:t>
            </a:r>
            <a:r>
              <a:rPr b="1" lang="es-CL">
                <a:solidFill>
                  <a:schemeClr val="dk1"/>
                </a:solidFill>
              </a:rPr>
              <a:t>PDF</a:t>
            </a:r>
            <a:r>
              <a:rPr lang="es-CL">
                <a:solidFill>
                  <a:schemeClr val="dk1"/>
                </a:solidFill>
              </a:rPr>
              <a:t> y </a:t>
            </a:r>
            <a:r>
              <a:rPr b="1" lang="es-CL">
                <a:solidFill>
                  <a:schemeClr val="dk1"/>
                </a:solidFill>
              </a:rPr>
              <a:t>XLS</a:t>
            </a:r>
            <a:r>
              <a:rPr lang="es-CL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optimiza el control de inventarios, reduce pérdidas y mejora la trazabilidad mediante reportes en tiempo real. No reemplaza sistemas como el ERP, que gestionan contabilidad, facturación y procesos financieros. Su implementación asegura un control eficiente en bodegas y sucursales.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